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46304" cy="50292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2E75B6"/>
                </a:solidFill>
                <a:latin typeface="Calibri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658368"/>
            <a:ext cx="1061892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Process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46120"/>
            <a:ext cx="2384983" cy="15544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Collect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Calibri"/>
              </a:rPr>
              <a:t>Gather inputs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70783" y="3858768"/>
            <a:ext cx="365760" cy="329184"/>
          </a:xfrm>
          <a:prstGeom prst="rightArrow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82263" y="3246120"/>
            <a:ext cx="2384983" cy="155448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Process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Calibri"/>
              </a:rPr>
              <a:t>Transform data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12967" y="3858768"/>
            <a:ext cx="365760" cy="329184"/>
          </a:xfrm>
          <a:prstGeom prst="rightArrow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24447" y="3246120"/>
            <a:ext cx="2384983" cy="15544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Review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Calibri"/>
              </a:rPr>
              <a:t>Quality check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5151" y="3858768"/>
            <a:ext cx="365760" cy="329184"/>
          </a:xfrm>
          <a:prstGeom prst="rightArrow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66631" y="3246120"/>
            <a:ext cx="2384983" cy="155448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Ship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Calibri"/>
              </a:rPr>
              <a:t>Release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54335" y="6291072"/>
            <a:ext cx="1097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6B7785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46304" cy="50292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2E75B6"/>
                </a:solidFill>
                <a:latin typeface="Calibri"/>
              </a:rPr>
              <a:t>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658368"/>
            <a:ext cx="1061892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Continuous cycle</a:t>
            </a:r>
          </a:p>
        </p:txBody>
      </p:sp>
      <p:cxnSp>
        <p:nvCxnSpPr>
          <p:cNvPr id="5" name="Connector 4"/>
          <p:cNvCxnSpPr/>
          <p:nvPr/>
        </p:nvCxnSpPr>
        <p:spPr>
          <a:xfrm flipH="1" flipV="1">
            <a:off x="6698257" y="3391329"/>
            <a:ext cx="29620" cy="29621"/>
          </a:xfrm>
          <a:prstGeom prst="line">
            <a:avLst/>
          </a:prstGeom>
          <a:ln w="25400">
            <a:solidFill>
              <a:srgbClr val="E883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6698257" y="4625769"/>
            <a:ext cx="29620" cy="29621"/>
          </a:xfrm>
          <a:prstGeom prst="line">
            <a:avLst/>
          </a:prstGeom>
          <a:ln w="25400">
            <a:solidFill>
              <a:srgbClr val="E883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63817" y="4625769"/>
            <a:ext cx="29620" cy="29621"/>
          </a:xfrm>
          <a:prstGeom prst="line">
            <a:avLst/>
          </a:prstGeom>
          <a:ln w="25400">
            <a:solidFill>
              <a:srgbClr val="E883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5463817" y="3391329"/>
            <a:ext cx="29620" cy="29621"/>
          </a:xfrm>
          <a:prstGeom prst="line">
            <a:avLst/>
          </a:prstGeom>
          <a:ln w="25400">
            <a:solidFill>
              <a:srgbClr val="E883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44287" y="2308860"/>
            <a:ext cx="2103120" cy="96012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3543300"/>
            <a:ext cx="2103120" cy="9601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Build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4287" y="4777740"/>
            <a:ext cx="2103120" cy="96012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Measure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9847" y="3543300"/>
            <a:ext cx="2103120" cy="9601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4335" y="6291072"/>
            <a:ext cx="1097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6B778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46304" cy="50292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2E75B6"/>
                </a:solidFill>
                <a:latin typeface="Calibri"/>
              </a:rPr>
              <a:t>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658368"/>
            <a:ext cx="1061892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Team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24247" y="1828800"/>
            <a:ext cx="2743200" cy="91440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Head of Product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2804007" y="2834640"/>
            <a:ext cx="3291840" cy="1188720"/>
          </a:xfrm>
          <a:prstGeom prst="line">
            <a:avLst/>
          </a:prstGeom>
          <a:ln w="1905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340967" y="4023360"/>
            <a:ext cx="2926080" cy="100584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21262E"/>
                </a:solidFill>
                <a:latin typeface="Calibri"/>
              </a:rPr>
              <a:t>Design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21262E"/>
                </a:solidFill>
                <a:latin typeface="Calibri"/>
              </a:rPr>
              <a:t>3 people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847" y="2834640"/>
            <a:ext cx="0" cy="1188720"/>
          </a:xfrm>
          <a:prstGeom prst="line">
            <a:avLst/>
          </a:prstGeom>
          <a:ln w="1905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632807" y="4023360"/>
            <a:ext cx="2926080" cy="100584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21262E"/>
                </a:solidFill>
                <a:latin typeface="Calibri"/>
              </a:rPr>
              <a:t>Engineering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21262E"/>
                </a:solidFill>
                <a:latin typeface="Calibri"/>
              </a:rPr>
              <a:t>8 people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5847" y="2834640"/>
            <a:ext cx="3291840" cy="1188720"/>
          </a:xfrm>
          <a:prstGeom prst="line">
            <a:avLst/>
          </a:prstGeom>
          <a:ln w="1905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924647" y="4023360"/>
            <a:ext cx="2926080" cy="100584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21262E"/>
                </a:solidFill>
                <a:latin typeface="Calibri"/>
              </a:rPr>
              <a:t>Research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21262E"/>
                </a:solidFill>
                <a:latin typeface="Calibri"/>
              </a:rPr>
              <a:t>2 people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54335" y="6291072"/>
            <a:ext cx="1097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6B778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46304" cy="50292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2E75B6"/>
                </a:solidFill>
                <a:latin typeface="Calibri"/>
              </a:rPr>
              <a:t>PYRAMID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658368"/>
            <a:ext cx="1061892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Value pyramid</a:t>
            </a:r>
          </a:p>
        </p:txBody>
      </p:sp>
      <p:sp>
        <p:nvSpPr>
          <p:cNvPr id="5" name="Freeform 4"/>
          <p:cNvSpPr/>
          <p:nvPr/>
        </p:nvSpPr>
        <p:spPr>
          <a:xfrm>
            <a:off x="5113809" y="1828800"/>
            <a:ext cx="1964077" cy="1097280"/>
          </a:xfrm>
          <a:custGeom>
            <a:avLst/>
            <a:gdLst/>
            <a:ahLst/>
            <a:cxnLst/>
            <a:rect l="l" t="t" r="r" b="b"/>
            <a:pathLst>
              <a:path w="1964077" h="1097280">
                <a:moveTo>
                  <a:pt x="982039" y="0"/>
                </a:moveTo>
                <a:lnTo>
                  <a:pt x="982039" y="0"/>
                </a:lnTo>
                <a:lnTo>
                  <a:pt x="1964077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Vision</a:t>
            </a:r>
          </a:p>
        </p:txBody>
      </p:sp>
      <p:sp>
        <p:nvSpPr>
          <p:cNvPr id="7" name="Freeform 6"/>
          <p:cNvSpPr/>
          <p:nvPr/>
        </p:nvSpPr>
        <p:spPr>
          <a:xfrm>
            <a:off x="4131771" y="2926080"/>
            <a:ext cx="3928153" cy="1097280"/>
          </a:xfrm>
          <a:custGeom>
            <a:avLst/>
            <a:gdLst/>
            <a:ahLst/>
            <a:cxnLst/>
            <a:rect l="l" t="t" r="r" b="b"/>
            <a:pathLst>
              <a:path w="3928153" h="1097280">
                <a:moveTo>
                  <a:pt x="982038" y="0"/>
                </a:moveTo>
                <a:lnTo>
                  <a:pt x="2946115" y="0"/>
                </a:lnTo>
                <a:lnTo>
                  <a:pt x="3928153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9" name="Freeform 8"/>
          <p:cNvSpPr/>
          <p:nvPr/>
        </p:nvSpPr>
        <p:spPr>
          <a:xfrm>
            <a:off x="3149733" y="4023360"/>
            <a:ext cx="5892229" cy="1097280"/>
          </a:xfrm>
          <a:custGeom>
            <a:avLst/>
            <a:gdLst/>
            <a:ahLst/>
            <a:cxnLst/>
            <a:rect l="l" t="t" r="r" b="b"/>
            <a:pathLst>
              <a:path w="5892229" h="1097280">
                <a:moveTo>
                  <a:pt x="982038" y="0"/>
                </a:moveTo>
                <a:lnTo>
                  <a:pt x="4910191" y="0"/>
                </a:lnTo>
                <a:lnTo>
                  <a:pt x="5892229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Execution</a:t>
            </a:r>
          </a:p>
        </p:txBody>
      </p:sp>
      <p:sp>
        <p:nvSpPr>
          <p:cNvPr id="11" name="Freeform 10"/>
          <p:cNvSpPr/>
          <p:nvPr/>
        </p:nvSpPr>
        <p:spPr>
          <a:xfrm>
            <a:off x="2167695" y="5120640"/>
            <a:ext cx="7856305" cy="1097280"/>
          </a:xfrm>
          <a:custGeom>
            <a:avLst/>
            <a:gdLst/>
            <a:ahLst/>
            <a:cxnLst/>
            <a:rect l="l" t="t" r="r" b="b"/>
            <a:pathLst>
              <a:path w="7856305" h="1097280">
                <a:moveTo>
                  <a:pt x="982038" y="0"/>
                </a:moveTo>
                <a:lnTo>
                  <a:pt x="6874267" y="0"/>
                </a:lnTo>
                <a:lnTo>
                  <a:pt x="7856305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12064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Foundations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4335" y="6291072"/>
            <a:ext cx="1097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6B778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46304" cy="50292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2E75B6"/>
                </a:solidFill>
                <a:latin typeface="Calibri"/>
              </a:rPr>
              <a:t>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658368"/>
            <a:ext cx="1061892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Conversion funnel</a:t>
            </a:r>
          </a:p>
        </p:txBody>
      </p:sp>
      <p:sp>
        <p:nvSpPr>
          <p:cNvPr id="5" name="Freeform 4"/>
          <p:cNvSpPr/>
          <p:nvPr/>
        </p:nvSpPr>
        <p:spPr>
          <a:xfrm>
            <a:off x="2167695" y="1828800"/>
            <a:ext cx="7856305" cy="1097280"/>
          </a:xfrm>
          <a:custGeom>
            <a:avLst/>
            <a:gdLst/>
            <a:ahLst/>
            <a:cxnLst/>
            <a:rect l="l" t="t" r="r" b="b"/>
            <a:pathLst>
              <a:path w="7856305" h="1097280">
                <a:moveTo>
                  <a:pt x="0" y="0"/>
                </a:moveTo>
                <a:lnTo>
                  <a:pt x="7856305" y="0"/>
                </a:lnTo>
                <a:lnTo>
                  <a:pt x="6874267" y="1097280"/>
                </a:lnTo>
                <a:lnTo>
                  <a:pt x="982038" y="1097280"/>
                </a:lnTo>
                <a:close/>
              </a:path>
            </a:pathLst>
          </a:cu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Visitors  —  100k</a:t>
            </a:r>
          </a:p>
        </p:txBody>
      </p:sp>
      <p:sp>
        <p:nvSpPr>
          <p:cNvPr id="7" name="Freeform 6"/>
          <p:cNvSpPr/>
          <p:nvPr/>
        </p:nvSpPr>
        <p:spPr>
          <a:xfrm>
            <a:off x="3149733" y="2926080"/>
            <a:ext cx="5892229" cy="1097280"/>
          </a:xfrm>
          <a:custGeom>
            <a:avLst/>
            <a:gdLst/>
            <a:ahLst/>
            <a:cxnLst/>
            <a:rect l="l" t="t" r="r" b="b"/>
            <a:pathLst>
              <a:path w="5892229" h="1097280">
                <a:moveTo>
                  <a:pt x="0" y="0"/>
                </a:moveTo>
                <a:lnTo>
                  <a:pt x="5892229" y="0"/>
                </a:lnTo>
                <a:lnTo>
                  <a:pt x="4910191" y="1097280"/>
                </a:lnTo>
                <a:lnTo>
                  <a:pt x="982038" y="1097280"/>
                </a:lnTo>
                <a:close/>
              </a:path>
            </a:pathLst>
          </a:cu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Signups  —  12k</a:t>
            </a:r>
          </a:p>
        </p:txBody>
      </p:sp>
      <p:sp>
        <p:nvSpPr>
          <p:cNvPr id="9" name="Freeform 8"/>
          <p:cNvSpPr/>
          <p:nvPr/>
        </p:nvSpPr>
        <p:spPr>
          <a:xfrm>
            <a:off x="4131771" y="4023360"/>
            <a:ext cx="3928153" cy="1097280"/>
          </a:xfrm>
          <a:custGeom>
            <a:avLst/>
            <a:gdLst/>
            <a:ahLst/>
            <a:cxnLst/>
            <a:rect l="l" t="t" r="r" b="b"/>
            <a:pathLst>
              <a:path w="3928153" h="1097280">
                <a:moveTo>
                  <a:pt x="0" y="0"/>
                </a:moveTo>
                <a:lnTo>
                  <a:pt x="3928153" y="0"/>
                </a:lnTo>
                <a:lnTo>
                  <a:pt x="2946115" y="1097280"/>
                </a:lnTo>
                <a:lnTo>
                  <a:pt x="982038" y="1097280"/>
                </a:lnTo>
                <a:close/>
              </a:path>
            </a:pathLst>
          </a:cu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Trials  —  3k</a:t>
            </a:r>
          </a:p>
        </p:txBody>
      </p:sp>
      <p:sp>
        <p:nvSpPr>
          <p:cNvPr id="11" name="Freeform 10"/>
          <p:cNvSpPr/>
          <p:nvPr/>
        </p:nvSpPr>
        <p:spPr>
          <a:xfrm>
            <a:off x="5113809" y="5120640"/>
            <a:ext cx="1964077" cy="1097280"/>
          </a:xfrm>
          <a:custGeom>
            <a:avLst/>
            <a:gdLst/>
            <a:ahLst/>
            <a:cxnLst/>
            <a:rect l="l" t="t" r="r" b="b"/>
            <a:pathLst>
              <a:path w="1964077" h="1097280">
                <a:moveTo>
                  <a:pt x="0" y="0"/>
                </a:moveTo>
                <a:lnTo>
                  <a:pt x="1964077" y="0"/>
                </a:lnTo>
                <a:lnTo>
                  <a:pt x="982039" y="1097280"/>
                </a:lnTo>
                <a:lnTo>
                  <a:pt x="982039" y="1097280"/>
                </a:lnTo>
                <a:close/>
              </a:path>
            </a:pathLst>
          </a:cu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12064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Paid  —  600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4335" y="6291072"/>
            <a:ext cx="1097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6B778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46304" cy="50292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2E75B6"/>
                </a:solidFill>
                <a:latin typeface="Calibri"/>
              </a:rPr>
              <a:t>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658368"/>
            <a:ext cx="1061892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3995928"/>
            <a:ext cx="10180015" cy="54864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6968" y="3904488"/>
            <a:ext cx="237744" cy="237744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606040"/>
            <a:ext cx="2194560" cy="109728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21262E"/>
                </a:solidFill>
                <a:latin typeface="Calibri"/>
              </a:rPr>
              <a:t>Q1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21262E"/>
                </a:solidFill>
                <a:latin typeface="Calibri"/>
              </a:rPr>
              <a:t>Beta launch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005840" y="3703320"/>
            <a:ext cx="0" cy="320040"/>
          </a:xfrm>
          <a:prstGeom prst="line">
            <a:avLst/>
          </a:prstGeom>
          <a:ln w="15875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280306" y="3904488"/>
            <a:ext cx="237744" cy="237744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01898" y="4343400"/>
            <a:ext cx="2194560" cy="109728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21262E"/>
                </a:solidFill>
                <a:latin typeface="Calibri"/>
              </a:rPr>
              <a:t>Q2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21262E"/>
                </a:solidFill>
                <a:latin typeface="Calibri"/>
              </a:rPr>
              <a:t>Public API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99178" y="4023360"/>
            <a:ext cx="0" cy="320040"/>
          </a:xfrm>
          <a:prstGeom prst="line">
            <a:avLst/>
          </a:prstGeom>
          <a:ln w="15875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673644" y="3904488"/>
            <a:ext cx="237744" cy="237744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95236" y="2606040"/>
            <a:ext cx="2194560" cy="109728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21262E"/>
                </a:solidFill>
                <a:latin typeface="Calibri"/>
              </a:rPr>
              <a:t>Q3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21262E"/>
                </a:solidFill>
                <a:latin typeface="Calibri"/>
              </a:rPr>
              <a:t>Mobile app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7792516" y="3703320"/>
            <a:ext cx="0" cy="320040"/>
          </a:xfrm>
          <a:prstGeom prst="line">
            <a:avLst/>
          </a:prstGeom>
          <a:ln w="15875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1066983" y="3904488"/>
            <a:ext cx="237744" cy="237744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57055" y="4343400"/>
            <a:ext cx="2194560" cy="109728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21262E"/>
                </a:solidFill>
                <a:latin typeface="Calibri"/>
              </a:rPr>
              <a:t>Q4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21262E"/>
                </a:solidFill>
                <a:latin typeface="Calibri"/>
              </a:rPr>
              <a:t>Enterprise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185855" y="4023360"/>
            <a:ext cx="0" cy="320040"/>
          </a:xfrm>
          <a:prstGeom prst="line">
            <a:avLst/>
          </a:prstGeom>
          <a:ln w="15875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454335" y="6291072"/>
            <a:ext cx="1097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6B778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