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Process · 처리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246120"/>
            <a:ext cx="2384983" cy="15544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Malgun Gothic"/>
              </a:rPr>
              <a:t>수집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Malgun Gothic"/>
              </a:rPr>
              <a:t>데이터 인입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70783" y="3858768"/>
            <a:ext cx="365760" cy="329184"/>
          </a:xfrm>
          <a:prstGeom prst="rightArrow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2263" y="3246120"/>
            <a:ext cx="2384983" cy="155448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Malgun Gothic"/>
              </a:rPr>
              <a:t>정제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Malgun Gothic"/>
              </a:rPr>
              <a:t>전처리·검증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12967" y="3858768"/>
            <a:ext cx="365760" cy="329184"/>
          </a:xfrm>
          <a:prstGeom prst="rightArrow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24447" y="3246120"/>
            <a:ext cx="2384983" cy="15544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Malgun Gothic"/>
              </a:rPr>
              <a:t>분석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Malgun Gothic"/>
              </a:rPr>
              <a:t>모델 추론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55151" y="3858768"/>
            <a:ext cx="365760" cy="329184"/>
          </a:xfrm>
          <a:prstGeom prst="rightArrow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66631" y="3246120"/>
            <a:ext cx="2384983" cy="155448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Malgun Gothic"/>
              </a:rPr>
              <a:t>배포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Malgun Gothic"/>
              </a:rPr>
              <a:t>결과 전달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1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Cycle · 반복 개선 루프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6698257" y="3391329"/>
            <a:ext cx="29620" cy="29621"/>
          </a:xfrm>
          <a:prstGeom prst="line">
            <a:avLst/>
          </a:prstGeom>
          <a:ln w="25400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6698257" y="4625769"/>
            <a:ext cx="29620" cy="29621"/>
          </a:xfrm>
          <a:prstGeom prst="line">
            <a:avLst/>
          </a:prstGeom>
          <a:ln w="25400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63817" y="4625769"/>
            <a:ext cx="29620" cy="29621"/>
          </a:xfrm>
          <a:prstGeom prst="line">
            <a:avLst/>
          </a:prstGeom>
          <a:ln w="25400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463817" y="3391329"/>
            <a:ext cx="29620" cy="29621"/>
          </a:xfrm>
          <a:prstGeom prst="line">
            <a:avLst/>
          </a:prstGeom>
          <a:ln w="25400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44287" y="2308860"/>
            <a:ext cx="2103120" cy="96012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계획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  <a:latin typeface="Malgun Gothic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3543300"/>
            <a:ext cx="2103120" cy="96012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실행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  <a:latin typeface="Malgun Gothic"/>
              </a:rPr>
              <a:t>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4287" y="4777740"/>
            <a:ext cx="2103120" cy="96012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점검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  <a:latin typeface="Malgun Gothic"/>
              </a:rPr>
              <a:t>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9847" y="3543300"/>
            <a:ext cx="2103120" cy="96012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개선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  <a:latin typeface="Malgun Gothic"/>
              </a:rPr>
              <a:t>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2 /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Hierarchy · 조직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4247" y="1828800"/>
            <a:ext cx="2743200" cy="91440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600">
                <a:solidFill>
                  <a:srgbClr val="FFFFFF"/>
                </a:solidFill>
                <a:latin typeface="Malgun Gothic"/>
              </a:rPr>
              <a:t>플랫폼 본부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2804007" y="2834640"/>
            <a:ext cx="3291840" cy="1188720"/>
          </a:xfrm>
          <a:prstGeom prst="line">
            <a:avLst/>
          </a:prstGeom>
          <a:ln w="19050">
            <a:solidFill>
              <a:srgbClr val="1428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40967" y="4023360"/>
            <a:ext cx="2926080" cy="100584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1A1A1A"/>
                </a:solidFill>
                <a:latin typeface="Malgun Gothic"/>
              </a:rPr>
              <a:t>데이터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1A1A1A"/>
                </a:solidFill>
                <a:latin typeface="Malgun Gothic"/>
              </a:rPr>
              <a:t>수집·저장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7" y="2834640"/>
            <a:ext cx="0" cy="1188720"/>
          </a:xfrm>
          <a:prstGeom prst="line">
            <a:avLst/>
          </a:prstGeom>
          <a:ln w="19050">
            <a:solidFill>
              <a:srgbClr val="1428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32807" y="4023360"/>
            <a:ext cx="2926080" cy="100584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1A1A1A"/>
                </a:solidFill>
                <a:latin typeface="Malgun Gothic"/>
              </a:rPr>
              <a:t>모델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1A1A1A"/>
                </a:solidFill>
                <a:latin typeface="Malgun Gothic"/>
              </a:rPr>
              <a:t>학습·서빙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2834640"/>
            <a:ext cx="3291840" cy="1188720"/>
          </a:xfrm>
          <a:prstGeom prst="line">
            <a:avLst/>
          </a:prstGeom>
          <a:ln w="19050">
            <a:solidFill>
              <a:srgbClr val="1428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924647" y="4023360"/>
            <a:ext cx="2926080" cy="100584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1A1A1A"/>
                </a:solidFill>
                <a:latin typeface="Malgun Gothic"/>
              </a:rPr>
              <a:t>서비스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1A1A1A"/>
                </a:solidFill>
                <a:latin typeface="Malgun Gothic"/>
              </a:rPr>
              <a:t>API·UX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3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Pyramid · 가치 계층</a:t>
            </a:r>
          </a:p>
        </p:txBody>
      </p:sp>
      <p:sp>
        <p:nvSpPr>
          <p:cNvPr id="4" name="Freeform 3"/>
          <p:cNvSpPr/>
          <p:nvPr/>
        </p:nvSpPr>
        <p:spPr>
          <a:xfrm>
            <a:off x="5113809" y="1828800"/>
            <a:ext cx="1964077" cy="1097280"/>
          </a:xfrm>
          <a:custGeom>
            <a:avLst/>
            <a:gdLst/>
            <a:ahLst/>
            <a:cxnLst/>
            <a:rect l="l" t="t" r="r" b="b"/>
            <a:pathLst>
              <a:path w="1964077" h="1097280">
                <a:moveTo>
                  <a:pt x="982039" y="0"/>
                </a:moveTo>
                <a:lnTo>
                  <a:pt x="982039" y="0"/>
                </a:lnTo>
                <a:lnTo>
                  <a:pt x="1964077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비전</a:t>
            </a:r>
          </a:p>
        </p:txBody>
      </p:sp>
      <p:sp>
        <p:nvSpPr>
          <p:cNvPr id="6" name="Freeform 5"/>
          <p:cNvSpPr/>
          <p:nvPr/>
        </p:nvSpPr>
        <p:spPr>
          <a:xfrm>
            <a:off x="4131771" y="2926080"/>
            <a:ext cx="3928153" cy="1097280"/>
          </a:xfrm>
          <a:custGeom>
            <a:avLst/>
            <a:gdLst/>
            <a:ahLst/>
            <a:cxnLst/>
            <a:rect l="l" t="t" r="r" b="b"/>
            <a:pathLst>
              <a:path w="3928153" h="1097280">
                <a:moveTo>
                  <a:pt x="982038" y="0"/>
                </a:moveTo>
                <a:lnTo>
                  <a:pt x="2946115" y="0"/>
                </a:lnTo>
                <a:lnTo>
                  <a:pt x="3928153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전략</a:t>
            </a:r>
          </a:p>
        </p:txBody>
      </p:sp>
      <p:sp>
        <p:nvSpPr>
          <p:cNvPr id="8" name="Freeform 7"/>
          <p:cNvSpPr/>
          <p:nvPr/>
        </p:nvSpPr>
        <p:spPr>
          <a:xfrm>
            <a:off x="3149733" y="4023360"/>
            <a:ext cx="5892229" cy="1097280"/>
          </a:xfrm>
          <a:custGeom>
            <a:avLst/>
            <a:gdLst/>
            <a:ahLst/>
            <a:cxnLst/>
            <a:rect l="l" t="t" r="r" b="b"/>
            <a:pathLst>
              <a:path w="5892229" h="1097280">
                <a:moveTo>
                  <a:pt x="982038" y="0"/>
                </a:moveTo>
                <a:lnTo>
                  <a:pt x="4910191" y="0"/>
                </a:lnTo>
                <a:lnTo>
                  <a:pt x="5892229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실행 과제</a:t>
            </a:r>
          </a:p>
        </p:txBody>
      </p:sp>
      <p:sp>
        <p:nvSpPr>
          <p:cNvPr id="10" name="Freeform 9"/>
          <p:cNvSpPr/>
          <p:nvPr/>
        </p:nvSpPr>
        <p:spPr>
          <a:xfrm>
            <a:off x="2167695" y="5120640"/>
            <a:ext cx="7856305" cy="1097280"/>
          </a:xfrm>
          <a:custGeom>
            <a:avLst/>
            <a:gdLst/>
            <a:ahLst/>
            <a:cxnLst/>
            <a:rect l="l" t="t" r="r" b="b"/>
            <a:pathLst>
              <a:path w="7856305" h="1097280">
                <a:moveTo>
                  <a:pt x="982038" y="0"/>
                </a:moveTo>
                <a:lnTo>
                  <a:pt x="6874267" y="0"/>
                </a:lnTo>
                <a:lnTo>
                  <a:pt x="7856305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기반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4 /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Funnel · 전환 깔때기</a:t>
            </a:r>
          </a:p>
        </p:txBody>
      </p:sp>
      <p:sp>
        <p:nvSpPr>
          <p:cNvPr id="4" name="Freeform 3"/>
          <p:cNvSpPr/>
          <p:nvPr/>
        </p:nvSpPr>
        <p:spPr>
          <a:xfrm>
            <a:off x="2167695" y="1828800"/>
            <a:ext cx="7856305" cy="1097280"/>
          </a:xfrm>
          <a:custGeom>
            <a:avLst/>
            <a:gdLst/>
            <a:ahLst/>
            <a:cxnLst/>
            <a:rect l="l" t="t" r="r" b="b"/>
            <a:pathLst>
              <a:path w="7856305" h="1097280">
                <a:moveTo>
                  <a:pt x="0" y="0"/>
                </a:moveTo>
                <a:lnTo>
                  <a:pt x="7856305" y="0"/>
                </a:lnTo>
                <a:lnTo>
                  <a:pt x="6874267" y="1097280"/>
                </a:lnTo>
                <a:lnTo>
                  <a:pt x="982038" y="109728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방문</a:t>
            </a:r>
          </a:p>
        </p:txBody>
      </p:sp>
      <p:sp>
        <p:nvSpPr>
          <p:cNvPr id="6" name="Freeform 5"/>
          <p:cNvSpPr/>
          <p:nvPr/>
        </p:nvSpPr>
        <p:spPr>
          <a:xfrm>
            <a:off x="3149733" y="2926080"/>
            <a:ext cx="5892229" cy="1097280"/>
          </a:xfrm>
          <a:custGeom>
            <a:avLst/>
            <a:gdLst/>
            <a:ahLst/>
            <a:cxnLst/>
            <a:rect l="l" t="t" r="r" b="b"/>
            <a:pathLst>
              <a:path w="5892229" h="1097280">
                <a:moveTo>
                  <a:pt x="0" y="0"/>
                </a:moveTo>
                <a:lnTo>
                  <a:pt x="5892229" y="0"/>
                </a:lnTo>
                <a:lnTo>
                  <a:pt x="4910191" y="1097280"/>
                </a:lnTo>
                <a:lnTo>
                  <a:pt x="982038" y="1097280"/>
                </a:lnTo>
                <a:close/>
              </a:path>
            </a:pathLst>
          </a:cu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가입</a:t>
            </a:r>
          </a:p>
        </p:txBody>
      </p:sp>
      <p:sp>
        <p:nvSpPr>
          <p:cNvPr id="8" name="Freeform 7"/>
          <p:cNvSpPr/>
          <p:nvPr/>
        </p:nvSpPr>
        <p:spPr>
          <a:xfrm>
            <a:off x="4131771" y="4023360"/>
            <a:ext cx="3928153" cy="1097280"/>
          </a:xfrm>
          <a:custGeom>
            <a:avLst/>
            <a:gdLst/>
            <a:ahLst/>
            <a:cxnLst/>
            <a:rect l="l" t="t" r="r" b="b"/>
            <a:pathLst>
              <a:path w="3928153" h="1097280">
                <a:moveTo>
                  <a:pt x="0" y="0"/>
                </a:moveTo>
                <a:lnTo>
                  <a:pt x="3928153" y="0"/>
                </a:lnTo>
                <a:lnTo>
                  <a:pt x="2946115" y="1097280"/>
                </a:lnTo>
                <a:lnTo>
                  <a:pt x="982038" y="109728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활성</a:t>
            </a:r>
          </a:p>
        </p:txBody>
      </p:sp>
      <p:sp>
        <p:nvSpPr>
          <p:cNvPr id="10" name="Freeform 9"/>
          <p:cNvSpPr/>
          <p:nvPr/>
        </p:nvSpPr>
        <p:spPr>
          <a:xfrm>
            <a:off x="5113809" y="5120640"/>
            <a:ext cx="1964077" cy="1097280"/>
          </a:xfrm>
          <a:custGeom>
            <a:avLst/>
            <a:gdLst/>
            <a:ahLst/>
            <a:cxnLst/>
            <a:rect l="l" t="t" r="r" b="b"/>
            <a:pathLst>
              <a:path w="1964077" h="1097280">
                <a:moveTo>
                  <a:pt x="0" y="0"/>
                </a:moveTo>
                <a:lnTo>
                  <a:pt x="1964077" y="0"/>
                </a:lnTo>
                <a:lnTo>
                  <a:pt x="982039" y="1097280"/>
                </a:lnTo>
                <a:lnTo>
                  <a:pt x="982039" y="1097280"/>
                </a:lnTo>
                <a:close/>
              </a:path>
            </a:pathLst>
          </a:cu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결제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5 /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Timeline · 로드맵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3995928"/>
            <a:ext cx="10180015" cy="54864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" y="3904488"/>
            <a:ext cx="237744" cy="23774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2194560" cy="109728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1A1A1A"/>
                </a:solidFill>
                <a:latin typeface="Malgun Gothic"/>
              </a:rPr>
              <a:t>1분기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1A1A1A"/>
                </a:solidFill>
                <a:latin typeface="Malgun Gothic"/>
              </a:rPr>
              <a:t>PoC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05840" y="3703320"/>
            <a:ext cx="0" cy="320040"/>
          </a:xfrm>
          <a:prstGeom prst="line">
            <a:avLst/>
          </a:prstGeom>
          <a:ln w="15875">
            <a:solidFill>
              <a:srgbClr val="1428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280306" y="3904488"/>
            <a:ext cx="237744" cy="237744"/>
          </a:xfrm>
          <a:prstGeom prst="ellips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01898" y="4343400"/>
            <a:ext cx="2194560" cy="109728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1A1A1A"/>
                </a:solidFill>
                <a:latin typeface="Malgun Gothic"/>
              </a:rPr>
              <a:t>2분기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1A1A1A"/>
                </a:solidFill>
                <a:latin typeface="Malgun Gothic"/>
              </a:rPr>
              <a:t>파일럿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99178" y="4023360"/>
            <a:ext cx="0" cy="320040"/>
          </a:xfrm>
          <a:prstGeom prst="line">
            <a:avLst/>
          </a:prstGeom>
          <a:ln w="15875">
            <a:solidFill>
              <a:srgbClr val="1428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673644" y="3904488"/>
            <a:ext cx="237744" cy="23774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95236" y="2606040"/>
            <a:ext cx="2194560" cy="109728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1A1A1A"/>
                </a:solidFill>
                <a:latin typeface="Malgun Gothic"/>
              </a:rPr>
              <a:t>3분기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1A1A1A"/>
                </a:solidFill>
                <a:latin typeface="Malgun Gothic"/>
              </a:rPr>
              <a:t>정식 출시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792516" y="3703320"/>
            <a:ext cx="0" cy="320040"/>
          </a:xfrm>
          <a:prstGeom prst="line">
            <a:avLst/>
          </a:prstGeom>
          <a:ln w="15875">
            <a:solidFill>
              <a:srgbClr val="1428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066983" y="3904488"/>
            <a:ext cx="237744" cy="237744"/>
          </a:xfrm>
          <a:prstGeom prst="ellips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57055" y="4343400"/>
            <a:ext cx="2194560" cy="109728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1A1A1A"/>
                </a:solidFill>
                <a:latin typeface="Malgun Gothic"/>
              </a:rPr>
              <a:t>4분기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1A1A1A"/>
                </a:solidFill>
                <a:latin typeface="Malgun Gothic"/>
              </a:rPr>
              <a:t>확장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185855" y="4023360"/>
            <a:ext cx="0" cy="320040"/>
          </a:xfrm>
          <a:prstGeom prst="line">
            <a:avLst/>
          </a:prstGeom>
          <a:ln w="15875">
            <a:solidFill>
              <a:srgbClr val="1428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6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