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대표 프로세서 큐비트 수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2019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53</c:v>
                </c:pt>
                <c:pt idx="2">
                  <c:v>127</c:v>
                </c:pt>
                <c:pt idx="3">
                  <c:v>433</c:v>
                </c:pt>
                <c:pt idx="4">
                  <c:v>1121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28A0"/>
                </a:solidFill>
                <a:latin typeface="Malgun Gothic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3628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11111"/>
                </a:solidFill>
                <a:latin typeface="Malgun Gothic"/>
              </a:rPr>
              <a:t>양자역학: 원리에서 기술로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6052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70747C"/>
                </a:solidFill>
                <a:latin typeface="Malgun Gothic"/>
              </a:rPr>
              <a:t>학부 이과생을 위한 응용 중심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0747C"/>
                </a:solidFill>
                <a:latin typeface="Malgun Gothic"/>
              </a:rPr>
              <a:t>Claude Code   | 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11111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다룰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핵심 원리는 최소한으로, 무게 중심은 응용 기술에.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왜 양자역학인가 — 고전물리의 한계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응용을 떠받치는 핵심 원리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반도체와 전자소자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빛과 레이저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양자정보기술 — 컴퓨팅·암호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정밀 측정과 양자 센싱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0" b="1" i="0">
                <a:solidFill>
                  <a:srgbClr val="1428A0"/>
                </a:solidFill>
                <a:latin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01800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왜 양자역학인가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Malgun Gothic"/>
              </a:rPr>
              <a:t>고전물리가 설명하지 못한 실험들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26080"/>
            <a:ext cx="2011680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고전물리의 세 가지 균열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19세기 말, 측정값이 이론과 어긋나기 시작했다.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흑체복사 — 자외선 파탄, 플랑크의 에너지 양자화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복사 에너지가 hν 단위로만 방출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광전효과 — 빛의 입자성(광자), 아인슈타인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문턱 진동수 존재, 세기 아닌 진동수가 관건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원자 안정성 — 고전 전자는 나선 추락해야 함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보어 모형: 불연속 에너지 준위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고전 vs 양자: 사고의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227167" cy="4480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227167" cy="6400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785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고전역학적 세계관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입자는 정해진 위치·운동량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물리량은 연속적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측정은 대상을 바꾸지 않음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결정론적 궤적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1737360"/>
            <a:ext cx="5227167" cy="4480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447" y="1737360"/>
            <a:ext cx="5227167" cy="6400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737360"/>
            <a:ext cx="46785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양자역학적 세계관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0604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상태는 확률진폭(파동함수)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에너지·각운동량 양자화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측정이 상태를 붕괴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확률론적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5 /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응용을 떠받치는 핵심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이후 모든 기술이 이 다섯 개념 위에 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파동–입자 이중성 — 전자·광자 모두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에너지 양자화 — 불연속 준위, 밴드 구조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중첩 — 여러 상태의 동시 존재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불확정성 — Δx·Δp ≥ ℏ/2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터널링 — 장벽을 통과하는 확률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얽힘 — 비국소적 상관관계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양자 상태의 일생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46120"/>
            <a:ext cx="2384983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상태 준비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파동함수 ψ로 기술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70783" y="3858768"/>
            <a:ext cx="365760" cy="329184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2263" y="3246120"/>
            <a:ext cx="2384983" cy="15544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시간 진화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슈뢰딩거 방정식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12967" y="3858768"/>
            <a:ext cx="365760" cy="329184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24447" y="3246120"/>
            <a:ext cx="2384983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측정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관측 가능량에 작용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5151" y="3858768"/>
            <a:ext cx="365760" cy="329184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66631" y="3246120"/>
            <a:ext cx="2384983" cy="15544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붕괴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확률 |ψ|²로 고윳값 획득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7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0" b="1" i="0">
                <a:solidFill>
                  <a:srgbClr val="1428A0"/>
                </a:solidFill>
                <a:latin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01800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반도체와 전자소자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Malgun Gothic"/>
              </a:rPr>
              <a:t>현대 전자공학을 떠받치는 양자효과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26080"/>
            <a:ext cx="2011680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밴드 이론과 트랜지스터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양자화된 에너지 준위가 띠(band)를 이룬다.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원자 결합 → 에너지 준위가 밴드로 확장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전도띠·가전자띠 사이 띠틈(band gap)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도핑으로 캐리어 농도 제어 (n형/p형)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pn 접합 → 다이오드·트랜지스터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MOSFET 스위칭이 모든 디지털 논리의 기반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양자 터널링의 응용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고전적으로 넘을 수 없는 장벽을 확률로 통과.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주사터널현미경(STM) — 원자 단위 영상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터널 전류가 거리에 지수적으로 민감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터널 다이오드 — 음의 미분저항, 고속 동작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플래시 메모리 — 산화막 통과로 전하 저장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조셉슨 접합 — 초전도 양자소자의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숫자로 보는 반도체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양자효과가 지배하는 스케일에 도달했다.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453563" cy="2560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453563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4535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11111"/>
                </a:solidFill>
                <a:latin typeface="Malgun Gothic"/>
              </a:rPr>
              <a:t>~2 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선단 공정 노드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0747C"/>
                </a:solidFill>
                <a:latin typeface="Malgun Gothic"/>
              </a:rPr>
              <a:t>원자 수십 개 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9403" y="2103120"/>
            <a:ext cx="2453563" cy="2560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03120"/>
            <a:ext cx="2453563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560320"/>
            <a:ext cx="24535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11111"/>
                </a:solidFill>
                <a:latin typeface="Malgun Gothic"/>
              </a:rPr>
              <a:t>9.2 GHz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611880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Cs 초미세 전이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402336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0747C"/>
                </a:solidFill>
                <a:latin typeface="Malgun Gothic"/>
              </a:rPr>
              <a:t>1초의 정의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2103120"/>
            <a:ext cx="2453563" cy="2560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2103120"/>
            <a:ext cx="2453563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2560320"/>
            <a:ext cx="24535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11111"/>
                </a:solidFill>
                <a:latin typeface="Malgun Gothic"/>
              </a:rPr>
              <a:t>1947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611880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트랜지스터 발명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402336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0747C"/>
                </a:solidFill>
                <a:latin typeface="Malgun Gothic"/>
              </a:rPr>
              <a:t>Bell Labs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051" y="2103120"/>
            <a:ext cx="2453563" cy="2560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051" y="2103120"/>
            <a:ext cx="2453563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051" y="2560320"/>
            <a:ext cx="24535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11111"/>
                </a:solidFill>
                <a:latin typeface="Malgun Gothic"/>
              </a:rPr>
              <a:t>1986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051" y="3611880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STM 노벨상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402336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0747C"/>
                </a:solidFill>
                <a:latin typeface="Malgun Gothic"/>
              </a:rPr>
              <a:t>Binnig·Rohrer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11 /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0" b="1" i="0">
                <a:solidFill>
                  <a:srgbClr val="1428A0"/>
                </a:solidFill>
                <a:latin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01800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빛과 레이저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Malgun Gothic"/>
              </a:rPr>
              <a:t>유도방출에서 시작된 광기술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26080"/>
            <a:ext cx="2011680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레이저: 유도방출의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한 광자가 동일한 광자를 복제하며 증폭된다.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유도방출 — 아인슈타인(1917) 예측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위상·방향·파장이 동일한 결맞음 빛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밀도반전 — 들뜬 상태가 더 많아야 증폭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공진 공동(cavity)으로 단색·지향성 강화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1960년 메이먼, 최초의 루비 레이저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레이저는 어디에 쓰이나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181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428A0"/>
                </a:solidFill>
                <a:latin typeface="Malgun Gothic"/>
              </a:rPr>
              <a:t>정보·통신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5181447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광섬유 통신 (인터넷 백본)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광 디스크 읽기/쓰기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바코드·라이다(LiDAR)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737360"/>
            <a:ext cx="5181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428A0"/>
                </a:solidFill>
                <a:latin typeface="Malgun Gothic"/>
              </a:rPr>
              <a:t>산업·의료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86000"/>
            <a:ext cx="5181447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정밀 절단·용접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라식 등 시력교정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분광 분석·계측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0" b="1" i="0">
                <a:solidFill>
                  <a:srgbClr val="1428A0"/>
                </a:solidFill>
                <a:latin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01800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양자정보기술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Malgun Gothic"/>
              </a:rPr>
              <a:t>중첩과 얽힘을 자원으로 쓰다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26080"/>
            <a:ext cx="2011680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큐비트: 중첩과 얽힘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0과 1을 동시에 — 정보의 새로운 단위.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큐비트 = α|0⟩ + β|1⟩ 중첩 상태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n큐비트가 2ⁿ 진폭을 동시에 담음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얽힘 — 떨어진 큐비트의 강한 상관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구현: 초전도 회로, 이온 트랩, 광자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결잃음(decoherence)이 최대 난제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고전 비트 vs 큐비트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227167" cy="4480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227167" cy="6400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785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고전 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값은 0 또는 1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n비트 = 하나의 조합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복제 자유로움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결정론적 게이트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1737360"/>
            <a:ext cx="5227167" cy="4480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447" y="1737360"/>
            <a:ext cx="5227167" cy="6400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737360"/>
            <a:ext cx="46785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큐비트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0604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0과 1의 중첩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n큐비트 = 2ⁿ 진폭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복제 불가 정리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Malgun Gothic"/>
              </a:rPr>
              <a:t>●  유니터리 +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17 /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양자 알고리즘이 노리는 우위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특정 문제에서 고전 대비 극적인 가속.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쇼어 알고리즘 — 소인수분해 지수적 가속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RSA 공개키 암호를 위협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그로버 알고리즘 — 비정형 탐색 √N 가속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양자 시뮬레이션 — 분자·신소재 설계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화학·제약에서 가장 현실적인 응용 후보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BB84 양자키분배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46120"/>
            <a:ext cx="2384983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임의 기저 인코딩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송신자가 광자 편광 선택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70783" y="3858768"/>
            <a:ext cx="365760" cy="329184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2263" y="3246120"/>
            <a:ext cx="2384983" cy="15544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광자 전송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단일 광자 채널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12967" y="3858768"/>
            <a:ext cx="365760" cy="329184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24447" y="3246120"/>
            <a:ext cx="2384983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임의 기저 측정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수신자가 독립적으로 측정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5151" y="3858768"/>
            <a:ext cx="365760" cy="329184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66631" y="3246120"/>
            <a:ext cx="2384983" cy="1554480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Malgun Gothic"/>
              </a:rPr>
              <a:t>기저 대조·검증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Malgun Gothic"/>
              </a:rPr>
              <a:t>도청 시 오류율 증가로 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19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큐비트 수의 성장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37360"/>
          <a:ext cx="10911535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20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0" b="1" i="0">
                <a:solidFill>
                  <a:srgbClr val="1428A0"/>
                </a:solidFill>
                <a:latin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01800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정밀 측정과 센싱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Malgun Gothic"/>
              </a:rPr>
              <a:t>양자가 가장 먼저 실용화된 분야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26080"/>
            <a:ext cx="2011680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양자 센싱과 계측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양자 상태의 민감성을 측정 자원으로 전환.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원자시계 — 초미세 전이로 1초 정의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–  GPS·통신망 동기화의 기준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MRI — 핵스핀의 자기공명 영상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원자 간섭계 — 중력·관성 초정밀 측정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NV 다이아몬드 — 나노스케일 자기장 센서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0" b="1" i="0">
                <a:solidFill>
                  <a:srgbClr val="1428A0"/>
                </a:solidFill>
                <a:latin typeface="Malgun Gothic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10312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1">
                <a:solidFill>
                  <a:srgbClr val="111111"/>
                </a:solidFill>
                <a:latin typeface="Malgun Gothic"/>
              </a:rPr>
              <a:t>양자역학을 진짜로 이해하는 사람은 없다고 단언할 수 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120640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70747C"/>
                </a:solidFill>
                <a:latin typeface="Malgun Gothic"/>
              </a:rPr>
              <a:t>— 리처드 파인만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23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11111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81683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1428A0"/>
                </a:solidFill>
                <a:latin typeface="Malgun Gothic"/>
              </a:rPr>
              <a:t>원리는 추상적이지만, 응용은 이미 일상이다.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양자화·터널링이 반도체·메모리를 가능케 함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유도방출이 통신·의료의 레이저로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중첩·얽힘이 컴퓨팅·암호의 새 자원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1A1A1A"/>
                </a:solidFill>
                <a:latin typeface="Malgun Gothic"/>
              </a:rPr>
              <a:t>●  양자 센싱은 이미 가장 성숙한 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291072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0747C"/>
                </a:solidFill>
                <a:latin typeface="Malgun Gothic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Malgun Gothic"/>
              </a:rPr>
              <a:t>질문과 토론 환영합니다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